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9" r:id="rId6"/>
    <p:sldId id="257" r:id="rId7"/>
    <p:sldId id="266" r:id="rId8"/>
    <p:sldId id="270" r:id="rId9"/>
    <p:sldId id="265" r:id="rId10"/>
    <p:sldId id="264" r:id="rId11"/>
    <p:sldId id="267" r:id="rId12"/>
    <p:sldId id="262" r:id="rId13"/>
    <p:sldId id="263" r:id="rId14"/>
    <p:sldId id="260" r:id="rId15"/>
    <p:sldId id="261" r:id="rId16"/>
    <p:sldId id="271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" id="{441C2FCE-ACF9-40EC-BF32-F99AB9A11FC7}">
          <p14:sldIdLst>
            <p14:sldId id="256"/>
            <p14:sldId id="269"/>
            <p14:sldId id="257"/>
            <p14:sldId id="266"/>
            <p14:sldId id="270"/>
            <p14:sldId id="265"/>
            <p14:sldId id="264"/>
            <p14:sldId id="267"/>
            <p14:sldId id="262"/>
            <p14:sldId id="263"/>
            <p14:sldId id="260"/>
            <p14:sldId id="261"/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666"/>
    <a:srgbClr val="0D192B"/>
    <a:srgbClr val="EDF6F9"/>
    <a:srgbClr val="398E7C"/>
    <a:srgbClr val="E9E5DF"/>
    <a:srgbClr val="7B4912"/>
    <a:srgbClr val="F48C06"/>
    <a:srgbClr val="CA0064"/>
    <a:srgbClr val="EAE2B7"/>
    <a:srgbClr val="E8E5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97371-FCC9-4B7A-B528-0E7C553F8615}" v="115" dt="2025-11-27T17:10:44.163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EF59-6C92-C0B8-7C13-C9AB95FC9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78FF0-8976-5EAB-31B9-3406040AE8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A5BED-D380-F067-97CB-219F90DE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8CF9E-AF7D-7FAB-1736-0732A7D7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96873-523F-6C9D-8EBC-FB8CD2574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295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B3158-B265-F6E7-837A-0805CDA9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8BC84-A68A-E66B-E9CC-39A934CA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5714B-26F7-280C-B898-4F97EE04D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5FB246-6F70-91B5-9611-F4B317CC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A750-B0C7-F5D7-2577-F0862F00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76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54FFE-7263-6F6D-CC05-CAA7A6EAE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8628A-E399-E005-3E96-9E3EBF174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D76F-2E4A-7A7C-1756-E0C2C330C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B0EE4-3982-162D-F614-2C30988E3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6F902-648E-B22F-D4D6-A54DFC981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76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F969-940B-6459-4F60-D0303B923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1F632-C434-B766-F62A-CD0CC124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983A8E-0904-267E-0B48-84EDD3C0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0DA1CD-F955-8A07-BAD1-BB9612AD8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90B4F-3417-D0A5-09A2-D590E233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98296-C236-ECDA-ECB7-4CD067FA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9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3691-CA83-DF8A-3810-FCDBB314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8DA3B-F20E-7120-7103-D6A8E5263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7AF27-3FDE-F537-2559-99EE314B9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B248F-84BA-ED96-4A0A-CBFB69201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704E7-A905-25F5-D905-A33538BC1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A34DB8-097A-06A9-4715-B242F6656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80C098-EAE4-3FF3-8E4C-F94D52C4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900E0F-5A41-2A06-0B6A-3FDF19D85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57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E316-728E-2246-3FB1-60038626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A3679-67BE-0512-3720-76632079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34F79B-3749-9233-FD6F-4390D0F2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1471BB-6478-6FF7-2A3B-84B1F8918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63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E8D98-C6DC-D7D4-5624-EDEF80C0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1F6B22-5A4D-5B58-A3DB-20E67D895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5AC1E-D15F-22C3-84D5-D093A10C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9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F80F-27E2-49FB-40E4-3071D1FFE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2BA3-625A-4450-7C5A-3B46C9977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A6E14-FA3F-E2F1-D52D-4A50A868D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735C9-1263-8769-76E6-3B5C3835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6F76C-C014-F103-56BA-109EAD8A2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963D4-A541-A8E5-CB6F-EF3A6D43C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2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988A-C888-01E2-DA59-678E1FF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902BD-A497-FD75-B9D0-EA283F0E68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B449F-DEF1-4B80-C96E-B21907B4D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56791-54BE-A922-ADDB-8F4A54C5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A64F7-43F3-2690-4081-6E0FCBAFD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FFC7C-C988-8038-EC9B-C0EBF89E2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06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1B62-A8FE-0FC3-AC80-8216BC0F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06403-AB21-9D42-FCA1-1C58DB98E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2BE82-547E-5975-7568-E438578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BD8F2-31BC-9D5A-8DD8-876F9332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66A2A-87CC-D31D-6B10-167B7CFCD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CF203-78ED-5B1E-3BB2-2C401CBD3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B203FA-AAF5-91D8-25C0-D35F06D6F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CD7F-86EE-E9C8-1A2A-D61A6E1DB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3D6AD-96E9-433C-073B-3AE9079A2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C6DD0-A250-2624-535E-0B0C7906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59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A15FC3-3CDD-DD71-7212-BA308280B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4D736-5D90-2932-ACCB-5A12586B2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9E4D5-74FF-91B6-0141-1E6F5EEB5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1C1CB-B324-4BEF-B792-C58A3A39803C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9ED16-A672-2345-2C1F-A6E120F80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38962-0126-9CF8-2593-5D7446037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C3757-604F-4A1A-A68F-387A2E640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32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6A355C1-DDB2-E3D9-6334-E1123F8077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FEAD3-8235-1B36-9FDC-14F8FD023889}"/>
              </a:ext>
            </a:extLst>
          </p:cNvPr>
          <p:cNvSpPr txBox="1"/>
          <p:nvPr/>
        </p:nvSpPr>
        <p:spPr>
          <a:xfrm>
            <a:off x="3836663" y="3075057"/>
            <a:ext cx="45186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Employee Attrition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ABED9635-C701-059A-BF06-9BF8711CE763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6900D9-21EB-4243-6926-08E0E3DC8340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55C63-B2EF-12A6-2007-BBA83D63BB7D}"/>
              </a:ext>
            </a:extLst>
          </p:cNvPr>
          <p:cNvSpPr txBox="1"/>
          <p:nvPr/>
        </p:nvSpPr>
        <p:spPr>
          <a:xfrm>
            <a:off x="-406719" y="7195199"/>
            <a:ext cx="13005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Employee Attrition Prediction and Analysis project aims to develop a machine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learning-based system capable of predicting employee turnover (attrition) within an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organization. Employee attrition poses significant challenges for companies, affecting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productivity, recruitment costs, and organizational knowledge.</a:t>
            </a:r>
          </a:p>
        </p:txBody>
      </p:sp>
    </p:spTree>
    <p:extLst>
      <p:ext uri="{BB962C8B-B14F-4D97-AF65-F5344CB8AC3E}">
        <p14:creationId xmlns:p14="http://schemas.microsoft.com/office/powerpoint/2010/main" val="2583013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57918-3264-ED28-1D39-19AF25ED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6B0582-2EB1-3D3A-4D3A-E41EFCDEBB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0C54DD-BFD1-608B-7D92-E6E6F32B6AC1}"/>
              </a:ext>
            </a:extLst>
          </p:cNvPr>
          <p:cNvSpPr txBox="1"/>
          <p:nvPr/>
        </p:nvSpPr>
        <p:spPr>
          <a:xfrm>
            <a:off x="3836663" y="2721114"/>
            <a:ext cx="45186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Employee Attrition</a:t>
            </a:r>
          </a:p>
        </p:txBody>
      </p:sp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3C103ACB-8D82-17CD-6418-765F5497D847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A373464-C60E-9C7C-103F-B0E89E002D56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64FE2-010A-0AB1-1F8E-B32242CD9AF5}"/>
              </a:ext>
            </a:extLst>
          </p:cNvPr>
          <p:cNvSpPr txBox="1"/>
          <p:nvPr/>
        </p:nvSpPr>
        <p:spPr>
          <a:xfrm>
            <a:off x="-406719" y="3943170"/>
            <a:ext cx="13005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 Employee Attrition Prediction and Analysis project aims to develop a machine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learning-based system capable of predicting employee turnover (attrition) within an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organization. Employee attrition poses significant challenges for companies, affecting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productivity, recruitment costs, and organizational knowledge.</a:t>
            </a:r>
          </a:p>
        </p:txBody>
      </p:sp>
      <p:pic>
        <p:nvPicPr>
          <p:cNvPr id="8" name="Picture 7" descr="People working at computers in an office&#10;&#10;AI-generated content may be incorrect.">
            <a:extLst>
              <a:ext uri="{FF2B5EF4-FFF2-40B4-BE49-F238E27FC236}">
                <a16:creationId xmlns:a16="http://schemas.microsoft.com/office/drawing/2014/main" id="{9DE675CC-FC89-BBCA-86D2-410909D074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r="13187" b="4"/>
          <a:stretch>
            <a:fillRect/>
          </a:stretch>
        </p:blipFill>
        <p:spPr>
          <a:xfrm>
            <a:off x="6714099" y="7372170"/>
            <a:ext cx="5321728" cy="40867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F5F9C70-976D-BEF8-24D3-FAF0C8C7DD63}"/>
              </a:ext>
            </a:extLst>
          </p:cNvPr>
          <p:cNvSpPr txBox="1"/>
          <p:nvPr/>
        </p:nvSpPr>
        <p:spPr>
          <a:xfrm>
            <a:off x="-6052745" y="956765"/>
            <a:ext cx="4286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98E7C"/>
                </a:solidFill>
              </a:rPr>
              <a:t>What is Employee Attrition?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F930D-DBDF-764C-689D-E7384B5C8E27}"/>
              </a:ext>
            </a:extLst>
          </p:cNvPr>
          <p:cNvSpPr txBox="1"/>
          <p:nvPr/>
        </p:nvSpPr>
        <p:spPr>
          <a:xfrm>
            <a:off x="-6371878" y="2415348"/>
            <a:ext cx="51001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D192B"/>
                </a:solidFill>
              </a:rPr>
              <a:t>Employee attrition happens when an employee leaves an organization for any reason and is not replaced for a long time, or not ever. It often results in a decrease in the size of an organizations or department’s workforce because positions aren’t refilled when employees leave</a:t>
            </a:r>
            <a:r>
              <a:rPr lang="en-US" i="1" dirty="0">
                <a:solidFill>
                  <a:srgbClr val="0D192B"/>
                </a:solidFill>
              </a:rPr>
              <a:t>.</a:t>
            </a:r>
            <a:endParaRPr lang="en-US" dirty="0">
              <a:solidFill>
                <a:srgbClr val="0D19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100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352B1-8A4A-1A83-778E-A9D9140EA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8DE9DD7-62FB-6048-86FF-3A5CA59D4CF0}"/>
              </a:ext>
            </a:extLst>
          </p:cNvPr>
          <p:cNvSpPr/>
          <p:nvPr/>
        </p:nvSpPr>
        <p:spPr>
          <a:xfrm>
            <a:off x="10777228" y="0"/>
            <a:ext cx="1414772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People working at computers in an office&#10;&#10;AI-generated content may be incorrect.">
            <a:extLst>
              <a:ext uri="{FF2B5EF4-FFF2-40B4-BE49-F238E27FC236}">
                <a16:creationId xmlns:a16="http://schemas.microsoft.com/office/drawing/2014/main" id="{6A02B49A-86E0-E1F5-607A-A42CBBB186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r="13187" b="4"/>
          <a:stretch>
            <a:fillRect/>
          </a:stretch>
        </p:blipFill>
        <p:spPr>
          <a:xfrm>
            <a:off x="6714099" y="1495374"/>
            <a:ext cx="5321728" cy="4086719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488267-5E0E-927F-6A27-8DF88E9298AA}"/>
              </a:ext>
            </a:extLst>
          </p:cNvPr>
          <p:cNvSpPr/>
          <p:nvPr/>
        </p:nvSpPr>
        <p:spPr>
          <a:xfrm>
            <a:off x="11374052" y="-254043"/>
            <a:ext cx="1635895" cy="806703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C0A0FD-6ADA-F9E3-05B0-33CF5F3C90BB}"/>
              </a:ext>
            </a:extLst>
          </p:cNvPr>
          <p:cNvSpPr txBox="1"/>
          <p:nvPr/>
        </p:nvSpPr>
        <p:spPr>
          <a:xfrm>
            <a:off x="1609173" y="956765"/>
            <a:ext cx="42869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398E7C"/>
                </a:solidFill>
              </a:rPr>
              <a:t>What is Employee Attrition?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35CE5F-03A0-B045-33D0-25D9CC3C48FB}"/>
              </a:ext>
            </a:extLst>
          </p:cNvPr>
          <p:cNvSpPr txBox="1"/>
          <p:nvPr/>
        </p:nvSpPr>
        <p:spPr>
          <a:xfrm>
            <a:off x="1290040" y="2415348"/>
            <a:ext cx="510012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D192B"/>
                </a:solidFill>
              </a:rPr>
              <a:t>Employee attrition happens when an employee leaves an organization for any reason and is not replaced for a long time, or not ever. It often results in a decrease in the size of an organizations or department’s workforce because positions aren’t refilled when employees leave</a:t>
            </a:r>
            <a:r>
              <a:rPr lang="en-US" i="1" dirty="0">
                <a:solidFill>
                  <a:srgbClr val="0D192B"/>
                </a:solidFill>
              </a:rPr>
              <a:t>.</a:t>
            </a:r>
            <a:endParaRPr lang="en-US" dirty="0">
              <a:solidFill>
                <a:srgbClr val="0D192B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23EEB7-E718-4BD8-DA3B-31B43FA55A71}"/>
              </a:ext>
            </a:extLst>
          </p:cNvPr>
          <p:cNvSpPr txBox="1"/>
          <p:nvPr/>
        </p:nvSpPr>
        <p:spPr>
          <a:xfrm>
            <a:off x="-6740106" y="1685835"/>
            <a:ext cx="1762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36666"/>
                </a:solidFill>
              </a:rPr>
              <a:t>Involuntary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4E636D-CF09-AE84-244C-B00FF67D91F5}"/>
              </a:ext>
            </a:extLst>
          </p:cNvPr>
          <p:cNvSpPr txBox="1"/>
          <p:nvPr/>
        </p:nvSpPr>
        <p:spPr>
          <a:xfrm>
            <a:off x="-6214585" y="2690336"/>
            <a:ext cx="51204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D192B"/>
                </a:solidFill>
              </a:rPr>
              <a:t>Involuntary attrition refers to the process where an organization initiates the termination of an employee's position due to reasons beyond the individual's control, such as economic downturns, restructuring, or performance-related issues. 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D483DF-2565-5FDB-46F1-91101656367A}"/>
              </a:ext>
            </a:extLst>
          </p:cNvPr>
          <p:cNvSpPr txBox="1"/>
          <p:nvPr/>
        </p:nvSpPr>
        <p:spPr>
          <a:xfrm>
            <a:off x="13473547" y="1685835"/>
            <a:ext cx="1632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Voluntary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285B62-9669-E831-28B8-70F6E939A554}"/>
              </a:ext>
            </a:extLst>
          </p:cNvPr>
          <p:cNvSpPr txBox="1"/>
          <p:nvPr/>
        </p:nvSpPr>
        <p:spPr>
          <a:xfrm>
            <a:off x="14063948" y="2690336"/>
            <a:ext cx="4954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Voluntary attrition occurs when employees choose to voluntarily leave their positions within an organization, rather than being compelled to do so through layoffs or other forms of involuntary separation.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A57AA5-EA4A-0108-163A-745A7CB783A6}"/>
              </a:ext>
            </a:extLst>
          </p:cNvPr>
          <p:cNvSpPr txBox="1"/>
          <p:nvPr/>
        </p:nvSpPr>
        <p:spPr>
          <a:xfrm>
            <a:off x="4427816" y="-1478025"/>
            <a:ext cx="3336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98E7C"/>
                </a:solidFill>
              </a:rPr>
              <a:t>Types of </a:t>
            </a:r>
            <a:r>
              <a:rPr lang="en-US" sz="3200" b="1" dirty="0">
                <a:solidFill>
                  <a:schemeClr val="bg1"/>
                </a:solidFill>
              </a:rPr>
              <a:t>Attrition</a:t>
            </a:r>
          </a:p>
        </p:txBody>
      </p:sp>
    </p:spTree>
    <p:extLst>
      <p:ext uri="{BB962C8B-B14F-4D97-AF65-F5344CB8AC3E}">
        <p14:creationId xmlns:p14="http://schemas.microsoft.com/office/powerpoint/2010/main" val="1348598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40F528-E466-916E-8B4F-C4D4B600A898}"/>
              </a:ext>
            </a:extLst>
          </p:cNvPr>
          <p:cNvSpPr/>
          <p:nvPr/>
        </p:nvSpPr>
        <p:spPr>
          <a:xfrm>
            <a:off x="-5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E78967-0794-40B3-BC31-69C95792B586}"/>
              </a:ext>
            </a:extLst>
          </p:cNvPr>
          <p:cNvSpPr/>
          <p:nvPr/>
        </p:nvSpPr>
        <p:spPr>
          <a:xfrm>
            <a:off x="6095998" y="0"/>
            <a:ext cx="6096001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D179DF-08E5-EF1A-8F9A-DF355F28A3C5}"/>
              </a:ext>
            </a:extLst>
          </p:cNvPr>
          <p:cNvSpPr txBox="1"/>
          <p:nvPr/>
        </p:nvSpPr>
        <p:spPr>
          <a:xfrm>
            <a:off x="4427816" y="468006"/>
            <a:ext cx="33363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398E7C"/>
                </a:solidFill>
              </a:rPr>
              <a:t>Types of </a:t>
            </a:r>
            <a:r>
              <a:rPr lang="en-US" sz="3200" b="1" dirty="0">
                <a:solidFill>
                  <a:schemeClr val="bg1"/>
                </a:solidFill>
              </a:rPr>
              <a:t>Attrition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DC30F4-A913-3C41-4FD7-7C8A8041DF43}"/>
              </a:ext>
            </a:extLst>
          </p:cNvPr>
          <p:cNvSpPr txBox="1"/>
          <p:nvPr/>
        </p:nvSpPr>
        <p:spPr>
          <a:xfrm>
            <a:off x="6463147" y="1685835"/>
            <a:ext cx="1632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bg1"/>
                </a:solidFill>
              </a:rPr>
              <a:t>Voluntary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E1A17-2F2B-D94F-A38A-A1B916839649}"/>
              </a:ext>
            </a:extLst>
          </p:cNvPr>
          <p:cNvSpPr txBox="1"/>
          <p:nvPr/>
        </p:nvSpPr>
        <p:spPr>
          <a:xfrm>
            <a:off x="7053548" y="2690336"/>
            <a:ext cx="49543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Voluntary attrition occurs when employees choose to voluntarily leave their positions within an organization, rather than being compelled to do so through layoffs or other forms of involuntary separation.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F244C2-2CF8-E94D-8DDD-B83353256FCF}"/>
              </a:ext>
            </a:extLst>
          </p:cNvPr>
          <p:cNvSpPr txBox="1"/>
          <p:nvPr/>
        </p:nvSpPr>
        <p:spPr>
          <a:xfrm>
            <a:off x="184133" y="1685835"/>
            <a:ext cx="1762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36666"/>
                </a:solidFill>
              </a:rPr>
              <a:t>Involuntary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8E6D6A-8858-6A09-2F4F-21ED4E093ED9}"/>
              </a:ext>
            </a:extLst>
          </p:cNvPr>
          <p:cNvSpPr txBox="1"/>
          <p:nvPr/>
        </p:nvSpPr>
        <p:spPr>
          <a:xfrm>
            <a:off x="709654" y="2690336"/>
            <a:ext cx="51204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solidFill>
                  <a:srgbClr val="0D192B"/>
                </a:solidFill>
              </a:rPr>
              <a:t>Involuntary attrition refers to the process where an organization initiates the termination of an employee's position due to reasons beyond the individual's control, such as economic downturns, restructuring, or performance-related issues. 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A08DA-EE2D-880C-4116-5F7BB3A59D73}"/>
              </a:ext>
            </a:extLst>
          </p:cNvPr>
          <p:cNvSpPr txBox="1"/>
          <p:nvPr/>
        </p:nvSpPr>
        <p:spPr>
          <a:xfrm>
            <a:off x="550607" y="-1004501"/>
            <a:ext cx="5703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How Attrition Impact Companies?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51064-AD98-6D28-68CA-F59719B9C113}"/>
              </a:ext>
            </a:extLst>
          </p:cNvPr>
          <p:cNvSpPr txBox="1"/>
          <p:nvPr/>
        </p:nvSpPr>
        <p:spPr>
          <a:xfrm>
            <a:off x="-2834073" y="3533432"/>
            <a:ext cx="223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Employees Burnout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22ECB2-0EB7-4AA8-4FD4-6C5ED74E7E12}"/>
              </a:ext>
            </a:extLst>
          </p:cNvPr>
          <p:cNvSpPr txBox="1"/>
          <p:nvPr/>
        </p:nvSpPr>
        <p:spPr>
          <a:xfrm>
            <a:off x="-3134169" y="3547038"/>
            <a:ext cx="2835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Costs and Resources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BF251BEB-F357-858A-0C3D-3FCB62531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194455" y="2217961"/>
            <a:ext cx="955991" cy="955991"/>
          </a:xfrm>
          <a:prstGeom prst="rect">
            <a:avLst/>
          </a:prstGeom>
        </p:spPr>
      </p:pic>
      <p:pic>
        <p:nvPicPr>
          <p:cNvPr id="10" name="Graphic 9" descr="Badge with solid fill">
            <a:extLst>
              <a:ext uri="{FF2B5EF4-FFF2-40B4-BE49-F238E27FC236}">
                <a16:creationId xmlns:a16="http://schemas.microsoft.com/office/drawing/2014/main" id="{2D80522F-6C5F-27AC-EBCA-0B23FE4F6F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194455" y="2180805"/>
            <a:ext cx="955991" cy="955991"/>
          </a:xfrm>
          <a:prstGeom prst="rect">
            <a:avLst/>
          </a:prstGeom>
        </p:spPr>
      </p:pic>
      <p:pic>
        <p:nvPicPr>
          <p:cNvPr id="13" name="Graphic 12" descr="Badge 3 with solid fill">
            <a:extLst>
              <a:ext uri="{FF2B5EF4-FFF2-40B4-BE49-F238E27FC236}">
                <a16:creationId xmlns:a16="http://schemas.microsoft.com/office/drawing/2014/main" id="{4460ADAA-1EA9-3E72-8175-3360A5F2E0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194455" y="2175333"/>
            <a:ext cx="955991" cy="955991"/>
          </a:xfrm>
          <a:prstGeom prst="rect">
            <a:avLst/>
          </a:prstGeom>
        </p:spPr>
      </p:pic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7C2B575D-C6B4-1F84-0917-65A2F0BF86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2194455" y="2175333"/>
            <a:ext cx="955991" cy="955991"/>
          </a:xfrm>
          <a:prstGeom prst="rect">
            <a:avLst/>
          </a:prstGeom>
        </p:spPr>
      </p:pic>
      <p:pic>
        <p:nvPicPr>
          <p:cNvPr id="20" name="Graphic 19" descr="Badge 5 with solid fill">
            <a:extLst>
              <a:ext uri="{FF2B5EF4-FFF2-40B4-BE49-F238E27FC236}">
                <a16:creationId xmlns:a16="http://schemas.microsoft.com/office/drawing/2014/main" id="{7AD088CD-2F55-86C8-0CD1-325153F4D92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2194455" y="2175333"/>
            <a:ext cx="955991" cy="9559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470B663-E4CB-DD99-399C-D6011F6EE8B1}"/>
              </a:ext>
            </a:extLst>
          </p:cNvPr>
          <p:cNvSpPr txBox="1"/>
          <p:nvPr/>
        </p:nvSpPr>
        <p:spPr>
          <a:xfrm>
            <a:off x="-2821793" y="3552510"/>
            <a:ext cx="221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Loss of Knowledge and Expertise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BBF084-D09C-5E6A-BABE-303BD293D248}"/>
              </a:ext>
            </a:extLst>
          </p:cNvPr>
          <p:cNvSpPr txBox="1"/>
          <p:nvPr/>
        </p:nvSpPr>
        <p:spPr>
          <a:xfrm>
            <a:off x="-2680891" y="3429000"/>
            <a:ext cx="1928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Impact on team dynamics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C6077-CA73-D238-C1B6-9A20E0297117}"/>
              </a:ext>
            </a:extLst>
          </p:cNvPr>
          <p:cNvSpPr txBox="1"/>
          <p:nvPr/>
        </p:nvSpPr>
        <p:spPr>
          <a:xfrm>
            <a:off x="-2914783" y="3394932"/>
            <a:ext cx="2396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Innovation and growth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42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736B3-D62A-80F8-54FD-D28E199E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5E7DAE7-859F-7D8C-3E58-62A0D42F5A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D9D1B-ACAB-CFE1-8895-964FD2A3D925}"/>
              </a:ext>
            </a:extLst>
          </p:cNvPr>
          <p:cNvSpPr txBox="1"/>
          <p:nvPr/>
        </p:nvSpPr>
        <p:spPr>
          <a:xfrm>
            <a:off x="550607" y="521110"/>
            <a:ext cx="5703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How Attrition Impact Companies?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8E9E9-F229-8531-6BDD-24C8EE57ED02}"/>
              </a:ext>
            </a:extLst>
          </p:cNvPr>
          <p:cNvSpPr txBox="1"/>
          <p:nvPr/>
        </p:nvSpPr>
        <p:spPr>
          <a:xfrm>
            <a:off x="5305966" y="3533432"/>
            <a:ext cx="223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Employees Burnout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93B294-85C8-3142-32D4-D9C97BB2D2D4}"/>
              </a:ext>
            </a:extLst>
          </p:cNvPr>
          <p:cNvSpPr txBox="1"/>
          <p:nvPr/>
        </p:nvSpPr>
        <p:spPr>
          <a:xfrm>
            <a:off x="288970" y="3547038"/>
            <a:ext cx="2835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Costs and Resources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Graphic 11" descr="Badge 4 with solid fill">
            <a:extLst>
              <a:ext uri="{FF2B5EF4-FFF2-40B4-BE49-F238E27FC236}">
                <a16:creationId xmlns:a16="http://schemas.microsoft.com/office/drawing/2014/main" id="{99578E6A-9274-2798-C32C-28CC4C2F6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95898" y="2217961"/>
            <a:ext cx="955991" cy="955991"/>
          </a:xfrm>
          <a:prstGeom prst="rect">
            <a:avLst/>
          </a:prstGeom>
        </p:spPr>
      </p:pic>
      <p:pic>
        <p:nvPicPr>
          <p:cNvPr id="14" name="Graphic 13" descr="Badge with solid fill">
            <a:extLst>
              <a:ext uri="{FF2B5EF4-FFF2-40B4-BE49-F238E27FC236}">
                <a16:creationId xmlns:a16="http://schemas.microsoft.com/office/drawing/2014/main" id="{81A1CE76-042B-1FE0-8389-263D147154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2157" y="2180805"/>
            <a:ext cx="955991" cy="955991"/>
          </a:xfrm>
          <a:prstGeom prst="rect">
            <a:avLst/>
          </a:prstGeom>
        </p:spPr>
      </p:pic>
      <p:pic>
        <p:nvPicPr>
          <p:cNvPr id="16" name="Graphic 15" descr="Badge 3 with solid fill">
            <a:extLst>
              <a:ext uri="{FF2B5EF4-FFF2-40B4-BE49-F238E27FC236}">
                <a16:creationId xmlns:a16="http://schemas.microsoft.com/office/drawing/2014/main" id="{63C8A6DD-1DE4-48A3-884D-08D17D2DC6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0753" y="2175333"/>
            <a:ext cx="955991" cy="955991"/>
          </a:xfrm>
          <a:prstGeom prst="rect">
            <a:avLst/>
          </a:prstGeom>
        </p:spPr>
      </p:pic>
      <p:pic>
        <p:nvPicPr>
          <p:cNvPr id="18" name="Graphic 17" descr="Badge 1 with solid fill">
            <a:extLst>
              <a:ext uri="{FF2B5EF4-FFF2-40B4-BE49-F238E27FC236}">
                <a16:creationId xmlns:a16="http://schemas.microsoft.com/office/drawing/2014/main" id="{351E5371-ABBD-6DB8-83F1-D06D5891AC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8171" y="2175333"/>
            <a:ext cx="955991" cy="955991"/>
          </a:xfrm>
          <a:prstGeom prst="rect">
            <a:avLst/>
          </a:prstGeom>
        </p:spPr>
      </p:pic>
      <p:pic>
        <p:nvPicPr>
          <p:cNvPr id="20" name="Graphic 19" descr="Badge 5 with solid fill">
            <a:extLst>
              <a:ext uri="{FF2B5EF4-FFF2-40B4-BE49-F238E27FC236}">
                <a16:creationId xmlns:a16="http://schemas.microsoft.com/office/drawing/2014/main" id="{0863D2FE-0775-BD8D-F25F-2DA20240C5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07838" y="2175333"/>
            <a:ext cx="955991" cy="95599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2B7279A-B4BF-8635-7CE0-C3D73EA1C584}"/>
              </a:ext>
            </a:extLst>
          </p:cNvPr>
          <p:cNvSpPr txBox="1"/>
          <p:nvPr/>
        </p:nvSpPr>
        <p:spPr>
          <a:xfrm>
            <a:off x="2836574" y="3552510"/>
            <a:ext cx="221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Loss of Knowledge and Expertise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50D8AF-5343-1C12-574E-F53F5A1112A7}"/>
              </a:ext>
            </a:extLst>
          </p:cNvPr>
          <p:cNvSpPr txBox="1"/>
          <p:nvPr/>
        </p:nvSpPr>
        <p:spPr>
          <a:xfrm>
            <a:off x="7937733" y="3429000"/>
            <a:ext cx="1928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Impact on team dynamics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2B80F1-EF8E-8971-3827-8B6259FFB7C3}"/>
              </a:ext>
            </a:extLst>
          </p:cNvPr>
          <p:cNvSpPr txBox="1"/>
          <p:nvPr/>
        </p:nvSpPr>
        <p:spPr>
          <a:xfrm>
            <a:off x="10114350" y="3394932"/>
            <a:ext cx="2396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Innovation and growth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1BD6B1-00F9-6EF4-D77F-5D5C11078A6C}"/>
              </a:ext>
            </a:extLst>
          </p:cNvPr>
          <p:cNvSpPr txBox="1"/>
          <p:nvPr/>
        </p:nvSpPr>
        <p:spPr>
          <a:xfrm>
            <a:off x="6658967" y="7989003"/>
            <a:ext cx="4084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build a predictive model that identifies employees who are likely to leave the company.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D2961-2A93-0288-2E23-10710CC0F7E7}"/>
              </a:ext>
            </a:extLst>
          </p:cNvPr>
          <p:cNvSpPr txBox="1"/>
          <p:nvPr/>
        </p:nvSpPr>
        <p:spPr>
          <a:xfrm>
            <a:off x="1254127" y="7989003"/>
            <a:ext cx="4379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analyze and visualize the key factors influencing attrition.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5013B7-F585-EF90-23B8-FC9F1B8889D5}"/>
              </a:ext>
            </a:extLst>
          </p:cNvPr>
          <p:cNvSpPr txBox="1"/>
          <p:nvPr/>
        </p:nvSpPr>
        <p:spPr>
          <a:xfrm>
            <a:off x="1254127" y="9491165"/>
            <a:ext cx="47140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optimize and deploy the model in an interactive environment for business use.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654183-D2E3-1206-1475-1BFEBC55CCA7}"/>
              </a:ext>
            </a:extLst>
          </p:cNvPr>
          <p:cNvSpPr txBox="1"/>
          <p:nvPr/>
        </p:nvSpPr>
        <p:spPr>
          <a:xfrm>
            <a:off x="6658967" y="9415394"/>
            <a:ext cx="39373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ensure model reliability, scalability, and maintainability through MLOps practices.</a:t>
            </a:r>
          </a:p>
        </p:txBody>
      </p:sp>
    </p:spTree>
    <p:extLst>
      <p:ext uri="{BB962C8B-B14F-4D97-AF65-F5344CB8AC3E}">
        <p14:creationId xmlns:p14="http://schemas.microsoft.com/office/powerpoint/2010/main" val="388183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0BB3-AC48-2BA8-8C27-EB6D2370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7DC0DF-3AE2-F09C-07DF-3C0D02615B02}"/>
              </a:ext>
            </a:extLst>
          </p:cNvPr>
          <p:cNvSpPr/>
          <p:nvPr/>
        </p:nvSpPr>
        <p:spPr>
          <a:xfrm>
            <a:off x="0" y="1014312"/>
            <a:ext cx="12192000" cy="5843688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DC2455F-E38C-B803-4465-B2C31508EF53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B2332C-0982-3D8A-CFDC-D2DFAC9B66F2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6A1913-1AB2-16A1-121E-0D042C11C2E9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46393-49D1-1F52-4539-385DD4559BF3}"/>
              </a:ext>
            </a:extLst>
          </p:cNvPr>
          <p:cNvSpPr txBox="1"/>
          <p:nvPr/>
        </p:nvSpPr>
        <p:spPr>
          <a:xfrm>
            <a:off x="500365" y="391754"/>
            <a:ext cx="2431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36666"/>
                </a:solidFill>
              </a:rPr>
              <a:t>Our Objective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E881B9-3CD2-17B8-C759-CC2FCE575384}"/>
              </a:ext>
            </a:extLst>
          </p:cNvPr>
          <p:cNvSpPr txBox="1"/>
          <p:nvPr/>
        </p:nvSpPr>
        <p:spPr>
          <a:xfrm>
            <a:off x="6658967" y="2509765"/>
            <a:ext cx="4084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build a predictive model that identifies employees who are likely to leave the company.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A09DAC-2FBE-A0CC-58D6-D8A7750F2E0B}"/>
              </a:ext>
            </a:extLst>
          </p:cNvPr>
          <p:cNvSpPr txBox="1"/>
          <p:nvPr/>
        </p:nvSpPr>
        <p:spPr>
          <a:xfrm>
            <a:off x="1254127" y="2509765"/>
            <a:ext cx="43797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analyze and visualize the key factors influencing attrition.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0724A-B58A-C8A9-81DD-6B1EB31B330B}"/>
              </a:ext>
            </a:extLst>
          </p:cNvPr>
          <p:cNvSpPr txBox="1"/>
          <p:nvPr/>
        </p:nvSpPr>
        <p:spPr>
          <a:xfrm>
            <a:off x="1254127" y="4011927"/>
            <a:ext cx="47140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optimize and deploy the model in an interactive environment for business use.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090420-2568-3935-6EC2-763AA6814560}"/>
              </a:ext>
            </a:extLst>
          </p:cNvPr>
          <p:cNvSpPr txBox="1"/>
          <p:nvPr/>
        </p:nvSpPr>
        <p:spPr>
          <a:xfrm>
            <a:off x="6658967" y="3936156"/>
            <a:ext cx="39373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To ensure model reliability, scalability, and maintainability through MLOps practices.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03B07E-66AC-27FF-4B71-5A5DFCCFFC09}"/>
              </a:ext>
            </a:extLst>
          </p:cNvPr>
          <p:cNvSpPr txBox="1"/>
          <p:nvPr/>
        </p:nvSpPr>
        <p:spPr>
          <a:xfrm>
            <a:off x="12862269" y="3533432"/>
            <a:ext cx="223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Employees Burnout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DAE525-71DA-E3C5-68AD-EE86AF52E8F7}"/>
              </a:ext>
            </a:extLst>
          </p:cNvPr>
          <p:cNvSpPr txBox="1"/>
          <p:nvPr/>
        </p:nvSpPr>
        <p:spPr>
          <a:xfrm>
            <a:off x="12562173" y="3547038"/>
            <a:ext cx="2835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Costs and Resources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1" name="Graphic 20" descr="Badge 4 with solid fill">
            <a:extLst>
              <a:ext uri="{FF2B5EF4-FFF2-40B4-BE49-F238E27FC236}">
                <a16:creationId xmlns:a16="http://schemas.microsoft.com/office/drawing/2014/main" id="{ABC73BD0-5F64-C11D-123A-69E6A89CA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01887" y="2217961"/>
            <a:ext cx="955991" cy="955991"/>
          </a:xfrm>
          <a:prstGeom prst="rect">
            <a:avLst/>
          </a:prstGeom>
        </p:spPr>
      </p:pic>
      <p:pic>
        <p:nvPicPr>
          <p:cNvPr id="22" name="Graphic 21" descr="Badge with solid fill">
            <a:extLst>
              <a:ext uri="{FF2B5EF4-FFF2-40B4-BE49-F238E27FC236}">
                <a16:creationId xmlns:a16="http://schemas.microsoft.com/office/drawing/2014/main" id="{5562E1EB-FFEC-9BDF-41D2-9DE21C320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01887" y="2180805"/>
            <a:ext cx="955991" cy="955991"/>
          </a:xfrm>
          <a:prstGeom prst="rect">
            <a:avLst/>
          </a:prstGeom>
        </p:spPr>
      </p:pic>
      <p:pic>
        <p:nvPicPr>
          <p:cNvPr id="23" name="Graphic 22" descr="Badge 3 with solid fill">
            <a:extLst>
              <a:ext uri="{FF2B5EF4-FFF2-40B4-BE49-F238E27FC236}">
                <a16:creationId xmlns:a16="http://schemas.microsoft.com/office/drawing/2014/main" id="{818BDACE-CA04-081A-B9A8-80D7531FE3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01887" y="2175333"/>
            <a:ext cx="955991" cy="955991"/>
          </a:xfrm>
          <a:prstGeom prst="rect">
            <a:avLst/>
          </a:prstGeom>
        </p:spPr>
      </p:pic>
      <p:pic>
        <p:nvPicPr>
          <p:cNvPr id="24" name="Graphic 23" descr="Badge 1 with solid fill">
            <a:extLst>
              <a:ext uri="{FF2B5EF4-FFF2-40B4-BE49-F238E27FC236}">
                <a16:creationId xmlns:a16="http://schemas.microsoft.com/office/drawing/2014/main" id="{F6D27700-D17C-A612-0D17-3CC797759E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501887" y="2175333"/>
            <a:ext cx="955991" cy="955991"/>
          </a:xfrm>
          <a:prstGeom prst="rect">
            <a:avLst/>
          </a:prstGeom>
        </p:spPr>
      </p:pic>
      <p:pic>
        <p:nvPicPr>
          <p:cNvPr id="25" name="Graphic 24" descr="Badge 5 with solid fill">
            <a:extLst>
              <a:ext uri="{FF2B5EF4-FFF2-40B4-BE49-F238E27FC236}">
                <a16:creationId xmlns:a16="http://schemas.microsoft.com/office/drawing/2014/main" id="{72660052-92DF-6094-C46C-15005F098A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01887" y="2175333"/>
            <a:ext cx="955991" cy="95599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FA4A809-F648-E58B-6530-14DDA6B97115}"/>
              </a:ext>
            </a:extLst>
          </p:cNvPr>
          <p:cNvSpPr txBox="1"/>
          <p:nvPr/>
        </p:nvSpPr>
        <p:spPr>
          <a:xfrm>
            <a:off x="12874549" y="3552510"/>
            <a:ext cx="2210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Loss of Knowledge and Expertise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D4D062-229A-A843-E08C-5031FF04E779}"/>
              </a:ext>
            </a:extLst>
          </p:cNvPr>
          <p:cNvSpPr txBox="1"/>
          <p:nvPr/>
        </p:nvSpPr>
        <p:spPr>
          <a:xfrm>
            <a:off x="13015451" y="3429000"/>
            <a:ext cx="19288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Impact on team dynamics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B6077A-FCDB-1682-C686-88CB3680CEA4}"/>
              </a:ext>
            </a:extLst>
          </p:cNvPr>
          <p:cNvSpPr txBox="1"/>
          <p:nvPr/>
        </p:nvSpPr>
        <p:spPr>
          <a:xfrm>
            <a:off x="12781559" y="3394932"/>
            <a:ext cx="2396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Innovation and growth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7AEF89C-F789-8304-5F74-B90DCA4205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735060" y="1656231"/>
            <a:ext cx="5944837" cy="29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85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4ADA9-1CF1-D3A9-9C69-78BF46B1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DF12AF-C24C-C2E6-41AD-C92087E73922}"/>
              </a:ext>
            </a:extLst>
          </p:cNvPr>
          <p:cNvSpPr/>
          <p:nvPr/>
        </p:nvSpPr>
        <p:spPr>
          <a:xfrm>
            <a:off x="0" y="0"/>
            <a:ext cx="6063645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DF2F8F-51AD-1796-5A6E-D4740517AE44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F2FE1-7FE2-EACF-D052-69FA5E3AC5F8}"/>
              </a:ext>
            </a:extLst>
          </p:cNvPr>
          <p:cNvSpPr txBox="1"/>
          <p:nvPr/>
        </p:nvSpPr>
        <p:spPr>
          <a:xfrm>
            <a:off x="169607" y="1024030"/>
            <a:ext cx="262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What we found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8AD9B0-3C26-8F42-ABD3-8AF1B6F6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200" y="1656231"/>
            <a:ext cx="5944837" cy="29453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4E802F2-24E6-FF5C-A0A9-05B4CBB028FA}"/>
              </a:ext>
            </a:extLst>
          </p:cNvPr>
          <p:cNvSpPr txBox="1"/>
          <p:nvPr/>
        </p:nvSpPr>
        <p:spPr>
          <a:xfrm>
            <a:off x="989992" y="2495571"/>
            <a:ext cx="38732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Work life Balance impact the attrition significantly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88B784-2D08-FC42-2A4D-9B6D93046DAC}"/>
              </a:ext>
            </a:extLst>
          </p:cNvPr>
          <p:cNvSpPr txBox="1"/>
          <p:nvPr/>
        </p:nvSpPr>
        <p:spPr>
          <a:xfrm>
            <a:off x="989992" y="3596368"/>
            <a:ext cx="3873216" cy="657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000" dirty="0">
                <a:solidFill>
                  <a:schemeClr val="bg1"/>
                </a:solidFill>
                <a:effectLst/>
              </a:rPr>
              <a:t>Employees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with </a:t>
            </a:r>
            <a:r>
              <a:rPr lang="en-US" sz="2000" b="1" dirty="0">
                <a:solidFill>
                  <a:schemeClr val="bg1"/>
                </a:solidFill>
                <a:effectLst/>
              </a:rPr>
              <a:t>Poor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life balance has attrition rate to </a:t>
            </a:r>
            <a:r>
              <a:rPr lang="en-US" sz="2000" b="1" dirty="0">
                <a:solidFill>
                  <a:srgbClr val="0D192B"/>
                </a:solidFill>
                <a:effectLst/>
              </a:rPr>
              <a:t>86%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and </a:t>
            </a:r>
            <a:r>
              <a:rPr lang="en-US" sz="2000" b="1" dirty="0">
                <a:solidFill>
                  <a:schemeClr val="bg1"/>
                </a:solidFill>
                <a:effectLst/>
              </a:rPr>
              <a:t>Fair</a:t>
            </a:r>
            <a:r>
              <a:rPr lang="en-US" sz="2000" b="0" dirty="0">
                <a:solidFill>
                  <a:schemeClr val="bg1"/>
                </a:solidFill>
                <a:effectLst/>
              </a:rPr>
              <a:t> life balance </a:t>
            </a:r>
            <a:r>
              <a:rPr lang="en-US" sz="2000" b="1" dirty="0">
                <a:solidFill>
                  <a:srgbClr val="0D192B"/>
                </a:solidFill>
                <a:effectLst/>
              </a:rPr>
              <a:t>49.8%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8122BD-9CF4-89D6-75B4-1EE6F8277A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5600" y="7670168"/>
            <a:ext cx="5944837" cy="29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422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DDE85-930E-6966-46F0-BC2CF262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11285C9-ADB4-F598-272B-026EC0031D76}"/>
              </a:ext>
            </a:extLst>
          </p:cNvPr>
          <p:cNvSpPr/>
          <p:nvPr/>
        </p:nvSpPr>
        <p:spPr>
          <a:xfrm>
            <a:off x="0" y="0"/>
            <a:ext cx="6063645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C46559-BFE1-3C35-F8C8-43A42FAB2046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F244A-8A69-2870-DBB5-133D0130210C}"/>
              </a:ext>
            </a:extLst>
          </p:cNvPr>
          <p:cNvSpPr txBox="1"/>
          <p:nvPr/>
        </p:nvSpPr>
        <p:spPr>
          <a:xfrm>
            <a:off x="169607" y="1024030"/>
            <a:ext cx="262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What we found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078BDE-FF33-C259-5D31-751D0A5986A8}"/>
              </a:ext>
            </a:extLst>
          </p:cNvPr>
          <p:cNvSpPr txBox="1"/>
          <p:nvPr/>
        </p:nvSpPr>
        <p:spPr>
          <a:xfrm>
            <a:off x="989992" y="2495571"/>
            <a:ext cx="4130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employees that has low job satisfaction tend to has high attrition rate. Low and Medium satisfaction has 86.1%, 45.2% respectively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A3BB4-D5CB-0923-95AE-037B845F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53200" y="1656231"/>
            <a:ext cx="5944837" cy="2945369"/>
          </a:xfrm>
          <a:prstGeom prst="rect">
            <a:avLst/>
          </a:prstGeom>
        </p:spPr>
      </p:pic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D2C69CFF-832F-1E2D-6358-E6BC91EE4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570193" y="1457285"/>
            <a:ext cx="7983794" cy="44908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087F3D-8716-4AE8-6BEF-F3B2D3288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200" y="-3990342"/>
            <a:ext cx="5944837" cy="294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333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97E6-BB4D-DF1C-EFF4-BC9DB96B1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EB985A-15F4-1B14-C02D-1B70065F07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57EFC53-34A5-4F62-9AAA-7201BE32698C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F3685F-7386-6121-5266-E40D4B29ECD6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14CF6-1A7A-BCDC-4E28-D8FB7358B3DB}"/>
              </a:ext>
            </a:extLst>
          </p:cNvPr>
          <p:cNvSpPr txBox="1"/>
          <p:nvPr/>
        </p:nvSpPr>
        <p:spPr>
          <a:xfrm>
            <a:off x="550607" y="521110"/>
            <a:ext cx="1738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Statistics</a:t>
            </a:r>
          </a:p>
        </p:txBody>
      </p: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11318515-725E-9A9D-6ADC-A27C69AE1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03" y="1457285"/>
            <a:ext cx="7983794" cy="4490884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86409B-D874-B04B-CABF-7F328B99FF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64605" y="1609685"/>
            <a:ext cx="7983794" cy="449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0544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2A223-9679-3B5D-8239-B30D117A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FBA203-AEF6-F7C0-B6FF-4DEBAA81B6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0C82E79D-B296-070A-3CD0-18909183039C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A38A72-25C6-C209-F9A8-C378163A6628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9B273-B296-B44B-EDC0-F0C64E68C06A}"/>
              </a:ext>
            </a:extLst>
          </p:cNvPr>
          <p:cNvSpPr txBox="1"/>
          <p:nvPr/>
        </p:nvSpPr>
        <p:spPr>
          <a:xfrm>
            <a:off x="550607" y="521110"/>
            <a:ext cx="17386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Statistics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C25563-3A1B-2161-6771-0C4ABA59B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103" y="1457285"/>
            <a:ext cx="7983794" cy="4490884"/>
          </a:xfrm>
          <a:prstGeom prst="rect">
            <a:avLst/>
          </a:prstGeom>
        </p:spPr>
      </p:pic>
      <p:pic>
        <p:nvPicPr>
          <p:cNvPr id="4" name="Picture 3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3E08AF98-6FBD-F55A-39B1-64F018C4F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87" y="7574611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589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042643-9458-3A8D-6222-FE977A9BB6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BA133BA-54C6-EB85-2164-3C1361BEAC3C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155D498-7367-B0AA-C5D0-521A46DD361B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4657733B-E8B2-9035-3C6D-E1875B863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87" y="1565440"/>
            <a:ext cx="7223774" cy="44805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5BE998-B51D-380F-8D2C-15CE2120892F}"/>
              </a:ext>
            </a:extLst>
          </p:cNvPr>
          <p:cNvSpPr txBox="1"/>
          <p:nvPr/>
        </p:nvSpPr>
        <p:spPr>
          <a:xfrm>
            <a:off x="550607" y="521110"/>
            <a:ext cx="2066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Our Models</a:t>
            </a:r>
          </a:p>
        </p:txBody>
      </p:sp>
      <p:pic>
        <p:nvPicPr>
          <p:cNvPr id="7" name="Picture 6" descr="A graph of a model&#10;&#10;AI-generated content may be incorrect.">
            <a:extLst>
              <a:ext uri="{FF2B5EF4-FFF2-40B4-BE49-F238E27FC236}">
                <a16:creationId xmlns:a16="http://schemas.microsoft.com/office/drawing/2014/main" id="{42FA7954-4F2B-9FB9-1D87-8B0157D56E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13333" y="1565439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5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9C36D-D434-EEF7-4970-A03BA018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185E080-6CFB-99D9-C2D0-C3C84061DF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71AF099-2660-2936-C115-BF3852E18089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67C8A0-E7A1-BE6C-DE9C-DC68123494B8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8A963-795E-1F9D-761E-AE130B5A36F1}"/>
              </a:ext>
            </a:extLst>
          </p:cNvPr>
          <p:cNvSpPr txBox="1"/>
          <p:nvPr/>
        </p:nvSpPr>
        <p:spPr>
          <a:xfrm>
            <a:off x="550607" y="521110"/>
            <a:ext cx="2066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Our Models</a:t>
            </a:r>
          </a:p>
        </p:txBody>
      </p:sp>
      <p:pic>
        <p:nvPicPr>
          <p:cNvPr id="2" name="Picture 1" descr="A graph of a model&#10;&#10;AI-generated content may be incorrect.">
            <a:extLst>
              <a:ext uri="{FF2B5EF4-FFF2-40B4-BE49-F238E27FC236}">
                <a16:creationId xmlns:a16="http://schemas.microsoft.com/office/drawing/2014/main" id="{573B884B-0DA7-4DDA-E7C6-17C8A046D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87" y="1565439"/>
            <a:ext cx="7223774" cy="4480569"/>
          </a:xfrm>
          <a:prstGeom prst="rect">
            <a:avLst/>
          </a:prstGeom>
        </p:spPr>
      </p:pic>
      <p:pic>
        <p:nvPicPr>
          <p:cNvPr id="7" name="Picture 6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1D0E26B9-2A0A-F50B-73AC-F4A5CC87A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1559" y="1565440"/>
            <a:ext cx="722377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6778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11CEC-E5E9-476D-7A16-AABC0CECC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CD97D5-D2FA-B7F0-DC48-4F23344F4E3C}"/>
              </a:ext>
            </a:extLst>
          </p:cNvPr>
          <p:cNvSpPr/>
          <p:nvPr/>
        </p:nvSpPr>
        <p:spPr>
          <a:xfrm>
            <a:off x="0" y="0"/>
            <a:ext cx="723392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C4AEDBE-3F9C-62B2-45DC-7D1E16463B49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672AE7-FB34-8EE7-A576-4781E99ED33B}"/>
              </a:ext>
            </a:extLst>
          </p:cNvPr>
          <p:cNvSpPr/>
          <p:nvPr/>
        </p:nvSpPr>
        <p:spPr>
          <a:xfrm>
            <a:off x="11096730" y="-191809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83F198-2628-6F37-50D0-37F114B18FA4}"/>
              </a:ext>
            </a:extLst>
          </p:cNvPr>
          <p:cNvSpPr txBox="1"/>
          <p:nvPr/>
        </p:nvSpPr>
        <p:spPr>
          <a:xfrm>
            <a:off x="596705" y="731279"/>
            <a:ext cx="30464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Employee Tracking System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009F0A-DB35-7B98-689A-C3C8F160B467}"/>
              </a:ext>
            </a:extLst>
          </p:cNvPr>
          <p:cNvSpPr txBox="1"/>
          <p:nvPr/>
        </p:nvSpPr>
        <p:spPr>
          <a:xfrm>
            <a:off x="1294506" y="1793108"/>
            <a:ext cx="4801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Extend existing employee attrition prediction model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B8EC26-EB36-349E-3FB7-5F4A971DD310}"/>
              </a:ext>
            </a:extLst>
          </p:cNvPr>
          <p:cNvSpPr txBox="1"/>
          <p:nvPr/>
        </p:nvSpPr>
        <p:spPr>
          <a:xfrm>
            <a:off x="1294506" y="2383506"/>
            <a:ext cx="50046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Automatically send surveys and collect 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75CA4B-9AE7-1B1B-F3FE-400B8ADBD439}"/>
              </a:ext>
            </a:extLst>
          </p:cNvPr>
          <p:cNvSpPr txBox="1"/>
          <p:nvPr/>
        </p:nvSpPr>
        <p:spPr>
          <a:xfrm>
            <a:off x="1294506" y="2973904"/>
            <a:ext cx="48014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Track employee activity on company devices or through company website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3F71C-A9C1-DCC6-8752-453538254993}"/>
              </a:ext>
            </a:extLst>
          </p:cNvPr>
          <p:cNvSpPr txBox="1"/>
          <p:nvPr/>
        </p:nvSpPr>
        <p:spPr>
          <a:xfrm>
            <a:off x="1302936" y="3838060"/>
            <a:ext cx="44882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Provide HR with insights to reduce attrition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CA0227-8B74-7A16-C322-FB85061B6ECE}"/>
              </a:ext>
            </a:extLst>
          </p:cNvPr>
          <p:cNvSpPr txBox="1"/>
          <p:nvPr/>
        </p:nvSpPr>
        <p:spPr>
          <a:xfrm>
            <a:off x="8217916" y="2575749"/>
            <a:ext cx="3031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solidFill>
                  <a:srgbClr val="036666"/>
                </a:solidFill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089092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525CB-3B78-223F-02D8-34384AF6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5E6A18-F9E4-C65A-BFE1-2E3096A9E7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36666"/>
              </a:gs>
              <a:gs pos="74000">
                <a:srgbClr val="398E7C"/>
              </a:gs>
              <a:gs pos="83000">
                <a:srgbClr val="398E7C"/>
              </a:gs>
              <a:gs pos="100000">
                <a:srgbClr val="398E7C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8E01FAC3-3809-6E27-BA5A-969E5284DF81}"/>
              </a:ext>
            </a:extLst>
          </p:cNvPr>
          <p:cNvSpPr/>
          <p:nvPr/>
        </p:nvSpPr>
        <p:spPr>
          <a:xfrm rot="18409036">
            <a:off x="1846385" y="2057259"/>
            <a:ext cx="7305262" cy="9742495"/>
          </a:xfrm>
          <a:prstGeom prst="triangle">
            <a:avLst>
              <a:gd name="adj" fmla="val 50772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B3931-23B3-2461-88AA-DB1049415159}"/>
              </a:ext>
            </a:extLst>
          </p:cNvPr>
          <p:cNvSpPr/>
          <p:nvPr/>
        </p:nvSpPr>
        <p:spPr>
          <a:xfrm>
            <a:off x="11002946" y="-261257"/>
            <a:ext cx="2190540" cy="1105320"/>
          </a:xfrm>
          <a:prstGeom prst="roundRect">
            <a:avLst>
              <a:gd name="adj" fmla="val 11881"/>
            </a:avLst>
          </a:prstGeom>
          <a:solidFill>
            <a:schemeClr val="bg1">
              <a:lumMod val="95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56D8FA-1EF3-D5A7-233D-B903FC0095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325935"/>
              </p:ext>
            </p:extLst>
          </p:nvPr>
        </p:nvGraphicFramePr>
        <p:xfrm>
          <a:off x="1981200" y="640080"/>
          <a:ext cx="8229600" cy="5577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{2A488322-F2BA-4B5B-9748-0D474271808F}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rgbClr val="0D1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D19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Mohammed Mahmoud Naeem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1- Data Collection, Exploration &amp; Preprocessing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2- Machine Learning Model Development and Optimization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- Final Documentation and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Ahmed Emad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1- Advanced Data Analysis and Feature Engineering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>
                          <a:solidFill>
                            <a:sysClr val="windowText" lastClr="000000"/>
                          </a:solidFill>
                        </a:rPr>
                        <a:t>Abdulla Atef Khamis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1- Machine Learning Model Development and Optimization</a:t>
                      </a:r>
                    </a:p>
                    <a:p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2- MLOps, Deployment, and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Muhammed Mahmoud Muhammed Hassanein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1- Data Collection, Exploration &amp; Preprocessing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- Machine Learning Model Development and Optimization</a:t>
                      </a:r>
                    </a:p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dirty="0">
                          <a:solidFill>
                            <a:sysClr val="windowText" lastClr="000000"/>
                          </a:solidFill>
                        </a:rPr>
                        <a:t>- MLOps, Deployment, and Monitoring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Mohammed Mostafa Badran</a:t>
                      </a:r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82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85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F0C3F80891CD4A961DD9A812F607B4" ma:contentTypeVersion="9" ma:contentTypeDescription="Create a new document." ma:contentTypeScope="" ma:versionID="2aa1d791363056e592f405abc17cc876">
  <xsd:schema xmlns:xsd="http://www.w3.org/2001/XMLSchema" xmlns:xs="http://www.w3.org/2001/XMLSchema" xmlns:p="http://schemas.microsoft.com/office/2006/metadata/properties" xmlns:ns3="9326711b-cc16-4cce-89e4-90d422226bda" targetNamespace="http://schemas.microsoft.com/office/2006/metadata/properties" ma:root="true" ma:fieldsID="0ab4039896124a888008d061a73fee42" ns3:_="">
    <xsd:import namespace="9326711b-cc16-4cce-89e4-90d422226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6711b-cc16-4cce-89e4-90d422226b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326711b-cc16-4cce-89e4-90d422226bda" xsi:nil="true"/>
  </documentManagement>
</p:properties>
</file>

<file path=customXml/itemProps1.xml><?xml version="1.0" encoding="utf-8"?>
<ds:datastoreItem xmlns:ds="http://schemas.openxmlformats.org/officeDocument/2006/customXml" ds:itemID="{D80A3FB8-9EAB-49C6-9BAB-7AB2C0963C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26711b-cc16-4cce-89e4-90d422226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14E9279-8C01-45C0-B0A1-FAFB332C30A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C170DC-549B-49EC-8468-C41171B63DE1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9326711b-cc16-4cce-89e4-90d422226bda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685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محمد محمود نعيم محمد رزق</dc:creator>
  <cp:lastModifiedBy>محمد محمود نعيم محمد رزق</cp:lastModifiedBy>
  <cp:revision>2</cp:revision>
  <dcterms:created xsi:type="dcterms:W3CDTF">2025-11-17T01:39:50Z</dcterms:created>
  <dcterms:modified xsi:type="dcterms:W3CDTF">2025-11-29T16:14:24Z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0x010100D5F0C3F80891CD4A961DD9A812F607B4</vt:lpwstr>
  </property>
</Properties>
</file>